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E62447-DB9C-4985-9F7D-995F7F0E42AD}">
  <a:tblStyle styleId="{B4E62447-DB9C-4985-9F7D-995F7F0E42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57153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116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85ec4ad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85ec4ad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261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85ec4ad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85ec4ad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411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485ec4ad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485ec4ad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420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485ec4ad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485ec4ad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1809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29675" y="-471950"/>
            <a:ext cx="8520600" cy="13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/>
              <a:t>Title:</a:t>
            </a:r>
            <a:r>
              <a:rPr lang="en-GB" sz="2300"/>
              <a:t> Historical Weather Data for Lagos (2010–2024)</a:t>
            </a:r>
            <a:endParaRPr sz="23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809125"/>
            <a:ext cx="8520600" cy="33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900" b="1">
                <a:solidFill>
                  <a:schemeClr val="dk1"/>
                </a:solidFill>
              </a:rPr>
              <a:t>Subtitle:</a:t>
            </a:r>
            <a:r>
              <a:rPr lang="en-GB" sz="2900">
                <a:solidFill>
                  <a:schemeClr val="dk1"/>
                </a:solidFill>
              </a:rPr>
              <a:t> Flood Risk Analysis – Key Findings, Challenges &amp; Recommendations</a:t>
            </a:r>
            <a:endParaRPr sz="29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900" b="1">
                <a:solidFill>
                  <a:schemeClr val="dk1"/>
                </a:solidFill>
              </a:rPr>
              <a:t>Prepared by:</a:t>
            </a:r>
            <a:r>
              <a:rPr lang="en-GB" sz="2900">
                <a:solidFill>
                  <a:schemeClr val="dk1"/>
                </a:solidFill>
              </a:rPr>
              <a:t> Esther Oziowuh Emmanuel </a:t>
            </a:r>
            <a:endParaRPr sz="29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chemeClr val="dk1"/>
                </a:solidFill>
              </a:rPr>
              <a:t>Date:</a:t>
            </a:r>
            <a:r>
              <a:rPr lang="en-GB" sz="2900">
                <a:solidFill>
                  <a:schemeClr val="dk1"/>
                </a:solidFill>
              </a:rPr>
              <a:t> 5th ,January 2026</a:t>
            </a:r>
            <a:endParaRPr sz="29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chemeClr val="dk1"/>
                </a:solidFill>
              </a:rPr>
              <a:t>Organiztion :</a:t>
            </a:r>
            <a:r>
              <a:rPr lang="en-GB" sz="2900">
                <a:solidFill>
                  <a:schemeClr val="dk1"/>
                </a:solidFill>
              </a:rPr>
              <a:t> Datafied Technologies</a:t>
            </a:r>
            <a:endParaRPr sz="4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Findings 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-300886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4553" b="1" dirty="0">
                <a:solidFill>
                  <a:schemeClr val="dk1"/>
                </a:solidFill>
              </a:rPr>
              <a:t>Rainfall is the main driver</a:t>
            </a:r>
            <a:br>
              <a:rPr lang="en-GB" sz="4553" b="1" dirty="0">
                <a:solidFill>
                  <a:schemeClr val="dk1"/>
                </a:solidFill>
              </a:rPr>
            </a:br>
            <a:endParaRPr sz="4553" b="1" dirty="0">
              <a:solidFill>
                <a:schemeClr val="dk1"/>
              </a:solidFill>
            </a:endParaRPr>
          </a:p>
          <a:p>
            <a:pPr marL="914400" lvl="1" indent="-30088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553" dirty="0">
                <a:solidFill>
                  <a:schemeClr val="dk1"/>
                </a:solidFill>
              </a:rPr>
              <a:t>Years </a:t>
            </a:r>
            <a:r>
              <a:rPr lang="en-GB" sz="4553" b="1" dirty="0">
                <a:solidFill>
                  <a:schemeClr val="dk1"/>
                </a:solidFill>
              </a:rPr>
              <a:t>2012, 2016, 2020, 2024</a:t>
            </a:r>
            <a:r>
              <a:rPr lang="en-GB" sz="4553" dirty="0">
                <a:solidFill>
                  <a:schemeClr val="dk1"/>
                </a:solidFill>
              </a:rPr>
              <a:t> show high flood risk with high rainfall.</a:t>
            </a:r>
            <a:br>
              <a:rPr lang="en-GB" sz="4553" dirty="0">
                <a:solidFill>
                  <a:schemeClr val="dk1"/>
                </a:solidFill>
              </a:rPr>
            </a:br>
            <a:endParaRPr sz="4553" dirty="0">
              <a:solidFill>
                <a:schemeClr val="dk1"/>
              </a:solidFill>
            </a:endParaRPr>
          </a:p>
          <a:p>
            <a:pPr marL="914400" lvl="1" indent="-30088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553" dirty="0">
                <a:solidFill>
                  <a:schemeClr val="dk1"/>
                </a:solidFill>
              </a:rPr>
              <a:t>Peak rainfall months: </a:t>
            </a:r>
            <a:r>
              <a:rPr lang="en-GB" sz="4553" b="1" dirty="0">
                <a:solidFill>
                  <a:schemeClr val="dk1"/>
                </a:solidFill>
              </a:rPr>
              <a:t>May, July, August, December</a:t>
            </a:r>
            <a:r>
              <a:rPr lang="en-GB" sz="4553" dirty="0">
                <a:solidFill>
                  <a:schemeClr val="dk1"/>
                </a:solidFill>
              </a:rPr>
              <a:t>.</a:t>
            </a:r>
            <a:br>
              <a:rPr lang="en-GB" sz="4553" dirty="0">
                <a:solidFill>
                  <a:schemeClr val="dk1"/>
                </a:solidFill>
              </a:rPr>
            </a:br>
            <a:endParaRPr sz="4553" dirty="0">
              <a:solidFill>
                <a:schemeClr val="dk1"/>
              </a:solidFill>
            </a:endParaRPr>
          </a:p>
          <a:p>
            <a:pPr marL="457200" lvl="0" indent="-30088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4553" b="1" dirty="0">
                <a:solidFill>
                  <a:schemeClr val="dk1"/>
                </a:solidFill>
              </a:rPr>
              <a:t>Rainy season months are most vulnerable</a:t>
            </a:r>
            <a:br>
              <a:rPr lang="en-GB" sz="4553" b="1" dirty="0">
                <a:solidFill>
                  <a:schemeClr val="dk1"/>
                </a:solidFill>
              </a:rPr>
            </a:br>
            <a:endParaRPr sz="4553" b="1" dirty="0">
              <a:solidFill>
                <a:schemeClr val="dk1"/>
              </a:solidFill>
            </a:endParaRPr>
          </a:p>
          <a:p>
            <a:pPr marL="914400" lvl="1" indent="-30088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553" dirty="0">
                <a:solidFill>
                  <a:schemeClr val="dk1"/>
                </a:solidFill>
              </a:rPr>
              <a:t>Flood risk peaks in </a:t>
            </a:r>
            <a:r>
              <a:rPr lang="en-GB" sz="4553" b="1" dirty="0">
                <a:solidFill>
                  <a:schemeClr val="dk1"/>
                </a:solidFill>
              </a:rPr>
              <a:t>July, May, October, August, January, March, December</a:t>
            </a:r>
            <a:r>
              <a:rPr lang="en-GB" sz="4553" dirty="0">
                <a:solidFill>
                  <a:schemeClr val="dk1"/>
                </a:solidFill>
              </a:rPr>
              <a:t>.</a:t>
            </a:r>
            <a:br>
              <a:rPr lang="en-GB" sz="4553" dirty="0">
                <a:solidFill>
                  <a:schemeClr val="dk1"/>
                </a:solidFill>
              </a:rPr>
            </a:br>
            <a:endParaRPr sz="4553" dirty="0">
              <a:solidFill>
                <a:schemeClr val="dk1"/>
              </a:solidFill>
            </a:endParaRPr>
          </a:p>
          <a:p>
            <a:pPr marL="457200" lvl="0" indent="-30088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4553" b="1" dirty="0">
                <a:solidFill>
                  <a:schemeClr val="dk1"/>
                </a:solidFill>
              </a:rPr>
              <a:t>Flood risk varies across years</a:t>
            </a:r>
            <a:br>
              <a:rPr lang="en-GB" sz="4553" b="1" dirty="0">
                <a:solidFill>
                  <a:schemeClr val="dk1"/>
                </a:solidFill>
              </a:rPr>
            </a:br>
            <a:endParaRPr sz="4553" b="1" dirty="0">
              <a:solidFill>
                <a:schemeClr val="dk1"/>
              </a:solidFill>
            </a:endParaRPr>
          </a:p>
          <a:p>
            <a:pPr marL="914400" lvl="1" indent="-24606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Char char="○"/>
            </a:pPr>
            <a:r>
              <a:rPr lang="en-GB" sz="4553" dirty="0">
                <a:solidFill>
                  <a:schemeClr val="dk1"/>
                </a:solidFill>
              </a:rPr>
              <a:t>Peaks in </a:t>
            </a:r>
            <a:r>
              <a:rPr lang="en-GB" sz="4553" b="1" dirty="0">
                <a:solidFill>
                  <a:schemeClr val="dk1"/>
                </a:solidFill>
              </a:rPr>
              <a:t>2010, 2016, 2024</a:t>
            </a:r>
            <a:r>
              <a:rPr lang="en-GB" sz="4553" dirty="0">
                <a:solidFill>
                  <a:schemeClr val="dk1"/>
                </a:solidFill>
              </a:rPr>
              <a:t>, showing variability over time.</a:t>
            </a:r>
            <a:r>
              <a:rPr lang="en-GB" sz="1100" dirty="0">
                <a:solidFill>
                  <a:schemeClr val="dk1"/>
                </a:solidFill>
              </a:rPr>
              <a:t/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2700" b="1" dirty="0">
                <a:solidFill>
                  <a:schemeClr val="dk1"/>
                </a:solidFill>
              </a:rPr>
              <a:t/>
            </a:r>
            <a:br>
              <a:rPr lang="en-GB" sz="2700" b="1" dirty="0">
                <a:solidFill>
                  <a:schemeClr val="dk1"/>
                </a:solidFill>
              </a:rPr>
            </a:br>
            <a:endParaRPr sz="27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0" y="81225"/>
            <a:ext cx="298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 b="1"/>
              <a:t>Challenges</a:t>
            </a:r>
            <a:endParaRPr sz="2820" b="1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0" y="968051"/>
            <a:ext cx="8520600" cy="41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813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-GB" sz="1485" b="1">
                <a:solidFill>
                  <a:schemeClr val="dk1"/>
                </a:solidFill>
              </a:rPr>
              <a:t>Inadequate drainage systems</a:t>
            </a:r>
            <a:r>
              <a:rPr lang="en-GB" sz="1485">
                <a:solidFill>
                  <a:schemeClr val="dk1"/>
                </a:solidFill>
              </a:rPr>
              <a:t> – </a:t>
            </a:r>
            <a:endParaRPr sz="1485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485">
                <a:solidFill>
                  <a:schemeClr val="dk1"/>
                </a:solidFill>
              </a:rPr>
              <a:t>unable to manage heavy rainfall.</a:t>
            </a:r>
            <a:r>
              <a:rPr lang="en-GB" sz="1252">
                <a:solidFill>
                  <a:schemeClr val="dk1"/>
                </a:solidFill>
              </a:rPr>
              <a:t> </a:t>
            </a:r>
            <a:endParaRPr sz="1252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052">
                <a:solidFill>
                  <a:schemeClr val="dk1"/>
                </a:solidFill>
              </a:rPr>
              <a:t/>
            </a:r>
            <a:br>
              <a:rPr lang="en-GB" sz="1052">
                <a:solidFill>
                  <a:schemeClr val="dk1"/>
                </a:solidFill>
              </a:rPr>
            </a:br>
            <a:endParaRPr sz="1384">
              <a:solidFill>
                <a:schemeClr val="dk1"/>
              </a:solidFill>
            </a:endParaRPr>
          </a:p>
          <a:p>
            <a:pPr marL="457200" lvl="0" indent="-32636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40"/>
              <a:buChar char="●"/>
            </a:pPr>
            <a:r>
              <a:rPr lang="en-GB" sz="1539" b="1">
                <a:solidFill>
                  <a:schemeClr val="dk1"/>
                </a:solidFill>
              </a:rPr>
              <a:t>Limited preparedness for rainy season</a:t>
            </a:r>
            <a:r>
              <a:rPr lang="en-GB" sz="1539">
                <a:solidFill>
                  <a:schemeClr val="dk1"/>
                </a:solidFill>
              </a:rPr>
              <a:t> – </a:t>
            </a:r>
            <a:endParaRPr sz="1539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539">
                <a:solidFill>
                  <a:schemeClr val="dk1"/>
                </a:solidFill>
              </a:rPr>
              <a:t>poor infrastructure worsens vulnerability.</a:t>
            </a:r>
            <a:endParaRPr sz="1539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endParaRPr sz="1052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endParaRPr sz="1052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endParaRPr sz="1052">
              <a:solidFill>
                <a:schemeClr val="dk1"/>
              </a:solidFill>
            </a:endParaRPr>
          </a:p>
          <a:p>
            <a:pPr marL="457200" lvl="0" indent="-30701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467" b="1">
                <a:solidFill>
                  <a:schemeClr val="dk1"/>
                </a:solidFill>
              </a:rPr>
              <a:t>Low public awareness</a:t>
            </a:r>
            <a:r>
              <a:rPr lang="en-GB" sz="1467">
                <a:solidFill>
                  <a:schemeClr val="dk1"/>
                </a:solidFill>
              </a:rPr>
              <a:t> – </a:t>
            </a:r>
            <a:endParaRPr sz="1467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467">
                <a:solidFill>
                  <a:schemeClr val="dk1"/>
                </a:solidFill>
              </a:rPr>
              <a:t>residents not informed about flood timing or proper drainage.</a:t>
            </a:r>
            <a:r>
              <a:rPr lang="en-GB" sz="1234">
                <a:solidFill>
                  <a:schemeClr val="dk1"/>
                </a:solidFill>
              </a:rPr>
              <a:t/>
            </a:r>
            <a:br>
              <a:rPr lang="en-GB" sz="1234">
                <a:solidFill>
                  <a:schemeClr val="dk1"/>
                </a:solidFill>
              </a:rPr>
            </a:br>
            <a:endParaRPr sz="1234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sz="2370">
              <a:solidFill>
                <a:schemeClr val="dk1"/>
              </a:solidFill>
            </a:endParaRPr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4763750" y="144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{B4E62447-DB9C-4985-9F7D-995F7F0E42AD}</a:tableStyleId>
              </a:tblPr>
              <a:tblGrid>
                <a:gridCol w="771525"/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graphicFrame>
        <p:nvGraphicFramePr>
          <p:cNvPr id="69" name="Google Shape;69;p15"/>
          <p:cNvGraphicFramePr/>
          <p:nvPr/>
        </p:nvGraphicFramePr>
        <p:xfrm>
          <a:off x="50636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{B4E62447-DB9C-4985-9F7D-995F7F0E42AD}</a:tableStyleId>
              </a:tblPr>
              <a:tblGrid>
                <a:gridCol w="771525"/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t="24004" r="69402" b="44792"/>
          <a:stretch/>
        </p:blipFill>
        <p:spPr>
          <a:xfrm>
            <a:off x="3273853" y="503222"/>
            <a:ext cx="1644177" cy="142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l="36237" t="19969" r="38305" b="46195"/>
          <a:stretch/>
        </p:blipFill>
        <p:spPr>
          <a:xfrm>
            <a:off x="4414625" y="2077100"/>
            <a:ext cx="1937000" cy="142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l="65413" t="13448" r="2344" b="46669"/>
          <a:stretch/>
        </p:blipFill>
        <p:spPr>
          <a:xfrm>
            <a:off x="6351625" y="3501350"/>
            <a:ext cx="1991351" cy="164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56100" y="0"/>
            <a:ext cx="31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20" b="1"/>
              <a:t>Recommendation</a:t>
            </a:r>
            <a:endParaRPr sz="2720" b="1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98325" y="766925"/>
            <a:ext cx="8733900" cy="42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 b="1">
                <a:solidFill>
                  <a:schemeClr val="dk1"/>
                </a:solidFill>
              </a:rPr>
              <a:t>Upgrade drainage systems</a:t>
            </a:r>
            <a:r>
              <a:rPr lang="en-GB" sz="1400">
                <a:solidFill>
                  <a:schemeClr val="dk1"/>
                </a:solidFill>
              </a:rPr>
              <a:t> – 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modernize to reduce waterlogging.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 b="1">
                <a:solidFill>
                  <a:schemeClr val="dk1"/>
                </a:solidFill>
              </a:rPr>
              <a:t>Develop flood-resilient infrastructure</a:t>
            </a:r>
            <a:r>
              <a:rPr lang="en-GB" sz="1400">
                <a:solidFill>
                  <a:schemeClr val="dk1"/>
                </a:solidFill>
              </a:rPr>
              <a:t> –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 buildings and roads designed for flooding.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 b="1">
                <a:solidFill>
                  <a:schemeClr val="dk1"/>
                </a:solidFill>
              </a:rPr>
              <a:t>Raise public awareness</a:t>
            </a:r>
            <a:r>
              <a:rPr lang="en-GB" sz="1400">
                <a:solidFill>
                  <a:schemeClr val="dk1"/>
                </a:solidFill>
              </a:rPr>
              <a:t> –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 educate residents and builders about proper drainage.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0" y="61550"/>
            <a:ext cx="40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Summary &amp; Next Step</a:t>
            </a:r>
            <a:endParaRPr sz="2920"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208800" y="855400"/>
            <a:ext cx="8935200" cy="40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Focus on rainfall management and drainage improvement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Strengthen infrastructure and public education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Monitor flood risk patterns annually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l="48933" t="59917" r="2817" b="4720"/>
          <a:stretch/>
        </p:blipFill>
        <p:spPr>
          <a:xfrm>
            <a:off x="4572000" y="1917300"/>
            <a:ext cx="4572000" cy="311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On-screen Show 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Title: Historical Weather Data for Lagos (2010–2024)</vt:lpstr>
      <vt:lpstr>Key Findings </vt:lpstr>
      <vt:lpstr>Challenges</vt:lpstr>
      <vt:lpstr>Recommendation</vt:lpstr>
      <vt:lpstr>Summary &amp; Next Step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Historical Weather Data for Lagos (2010–2024)</dc:title>
  <cp:lastModifiedBy>user</cp:lastModifiedBy>
  <cp:revision>1</cp:revision>
  <dcterms:modified xsi:type="dcterms:W3CDTF">2026-01-18T22:42:31Z</dcterms:modified>
</cp:coreProperties>
</file>